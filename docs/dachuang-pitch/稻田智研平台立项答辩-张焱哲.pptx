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5847eab4ec429a" /><Relationship Type="http://schemas.openxmlformats.org/officeDocument/2006/relationships/extended-properties" Target="/docProps/app.xml" Id="R1f20ea78fad84013" /><Relationship Type="http://schemas.openxmlformats.org/officeDocument/2006/relationships/officeDocument" Target="/ppt/presentation.xml" Id="R06a9355dc28a47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a14835ad524e50"/>
  </p:sldMasterIdLst>
  <p:notesMasterIdLst>
    <p:notesMasterId xmlns:r="http://schemas.openxmlformats.org/officeDocument/2006/relationships" r:id="Ra6ffb72468134afb"/>
  </p:notesMasterIdLst>
  <p:sldIdLst>
    <p:sldId xmlns:r="http://schemas.openxmlformats.org/officeDocument/2006/relationships" id="256" r:id="R8de48da1ae4d43dd"/>
    <p:sldId xmlns:r="http://schemas.openxmlformats.org/officeDocument/2006/relationships" id="257" r:id="R1ff6681af1ed4cd5"/>
    <p:sldId xmlns:r="http://schemas.openxmlformats.org/officeDocument/2006/relationships" id="258" r:id="R7194d38defe34e70"/>
    <p:sldId xmlns:r="http://schemas.openxmlformats.org/officeDocument/2006/relationships" id="259" r:id="R7b347dd68c5b4a90"/>
    <p:sldId xmlns:r="http://schemas.openxmlformats.org/officeDocument/2006/relationships" id="260" r:id="R77d9035a78004b09"/>
    <p:sldId xmlns:r="http://schemas.openxmlformats.org/officeDocument/2006/relationships" id="261" r:id="Ra2376e318e054107"/>
    <p:sldId xmlns:r="http://schemas.openxmlformats.org/officeDocument/2006/relationships" id="262" r:id="R90d0ecfb3bd443f6"/>
    <p:sldId xmlns:r="http://schemas.openxmlformats.org/officeDocument/2006/relationships" id="263" r:id="R9f6d5f8b3e284353"/>
    <p:sldId xmlns:r="http://schemas.openxmlformats.org/officeDocument/2006/relationships" id="264" r:id="R6ae894c3ecfb43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14835ad524e50" /><Relationship Type="http://schemas.openxmlformats.org/officeDocument/2006/relationships/theme" Target="/ppt/theme/theme1.xml" Id="R2fa40bda09714ea5" /><Relationship Type="http://schemas.openxmlformats.org/officeDocument/2006/relationships/notesMaster" Target="/ppt/notesMasters/notesMaster1.xml" Id="Ra6ffb72468134afb" /><Relationship Type="http://schemas.openxmlformats.org/officeDocument/2006/relationships/presProps" Target="/ppt/presProps.xml" Id="R48eaf5d30892495c" /><Relationship Type="http://schemas.openxmlformats.org/officeDocument/2006/relationships/viewProps" Target="/ppt/viewProps.xml" Id="R93d2870bb99b4194" /><Relationship Type="http://schemas.openxmlformats.org/officeDocument/2006/relationships/tableStyles" Target="/ppt/tableStyles.xml" Id="R2146980d2a1946b8" /><Relationship Type="http://schemas.openxmlformats.org/officeDocument/2006/relationships/slide" Target="/ppt/slides/slide1.xml" Id="R8de48da1ae4d43dd" /><Relationship Type="http://schemas.openxmlformats.org/officeDocument/2006/relationships/slide" Target="/ppt/slides/slide2.xml" Id="R1ff6681af1ed4cd5" /><Relationship Type="http://schemas.openxmlformats.org/officeDocument/2006/relationships/slide" Target="/ppt/slides/slide3.xml" Id="R7194d38defe34e70" /><Relationship Type="http://schemas.openxmlformats.org/officeDocument/2006/relationships/slide" Target="/ppt/slides/slide4.xml" Id="R7b347dd68c5b4a90" /><Relationship Type="http://schemas.openxmlformats.org/officeDocument/2006/relationships/slide" Target="/ppt/slides/slide5.xml" Id="R77d9035a78004b09" /><Relationship Type="http://schemas.openxmlformats.org/officeDocument/2006/relationships/slide" Target="/ppt/slides/slide6.xml" Id="Ra2376e318e054107" /><Relationship Type="http://schemas.openxmlformats.org/officeDocument/2006/relationships/slide" Target="/ppt/slides/slide7.xml" Id="R90d0ecfb3bd443f6" /><Relationship Type="http://schemas.openxmlformats.org/officeDocument/2006/relationships/slide" Target="/ppt/slides/slide8.xml" Id="R9f6d5f8b3e284353" /><Relationship Type="http://schemas.openxmlformats.org/officeDocument/2006/relationships/slide" Target="/ppt/slides/slide9.xml" Id="R6ae894c3ecfb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830f0e189bc4c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6b1657852c4f8f" /><Relationship Type="http://schemas.openxmlformats.org/officeDocument/2006/relationships/notesMaster" Target="/ppt/notesMasters/notesMaster1.xml" Id="R92f51b9df8eb4b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41da3d93c64c82" /><Relationship Type="http://schemas.openxmlformats.org/officeDocument/2006/relationships/notesMaster" Target="/ppt/notesMasters/notesMaster1.xml" Id="R48bbd5e5711c4e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24ae90e8d042ed" /><Relationship Type="http://schemas.openxmlformats.org/officeDocument/2006/relationships/notesMaster" Target="/ppt/notesMasters/notesMaster1.xml" Id="R00675576f5eb4a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928618f28041ca" /><Relationship Type="http://schemas.openxmlformats.org/officeDocument/2006/relationships/notesMaster" Target="/ppt/notesMasters/notesMaster1.xml" Id="R6a8aa92552fe4d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b0222fa1eb4a2c" /><Relationship Type="http://schemas.openxmlformats.org/officeDocument/2006/relationships/notesMaster" Target="/ppt/notesMasters/notesMaster1.xml" Id="R85eb9310c2a848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1296b691444d87" /><Relationship Type="http://schemas.openxmlformats.org/officeDocument/2006/relationships/notesMaster" Target="/ppt/notesMasters/notesMaster1.xml" Id="R2f063f725eee46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90b79825e84fce" /><Relationship Type="http://schemas.openxmlformats.org/officeDocument/2006/relationships/notesMaster" Target="/ppt/notesMasters/notesMaster1.xml" Id="R687477fee9724b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25485c0d1c41e1" /><Relationship Type="http://schemas.openxmlformats.org/officeDocument/2006/relationships/notesMaster" Target="/ppt/notesMasters/notesMaster1.xml" Id="Rd14971bfad0a4d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adccf93d174fed" /><Relationship Type="http://schemas.openxmlformats.org/officeDocument/2006/relationships/notesMaster" Target="/ppt/notesMasters/notesMaster1.xml" Id="Rbef21c76ebaf44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各位老师好，我是张焱哲。我的项目题目是“基于数字孪生的智慧稻田多源数据可视化与分析平台”。</a:t>
            </a:r>
          </a:p>
          <a:p xmlns:a="http://schemas.openxmlformats.org/drawingml/2006/main">
            <a:r>
              <a:t>这次立项答辩我会围绕四点展开：为什么要做、第一阶段具体做什么、目前已经有什么基础，以及后续怎样按计划完成。</a:t>
            </a:r>
          </a:p>
          <a:p xmlns:a="http://schemas.openxmlformats.org/drawingml/2006/main">
            <a:r>
              <a:t>项目定位不是做一个静态大屏，而是做一个能运行、能演示、能扩展的稻田数字孪生分析平台。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首先是选题背景。稻田管理现在正在从经验判断转向数据化和精细化管理，但问题不只是采集数据。</a:t>
            </a:r>
          </a:p>
          <a:p xmlns:a="http://schemas.openxmlformats.org/drawingml/2006/main">
            <a:r>
              <a:t>稻田数据同时有空间属性、时间属性和质量状态，如果只用表格或单一图表，很难看出地块之间的差异，也不利于后续复用。</a:t>
            </a:r>
          </a:p>
          <a:p xmlns:a="http://schemas.openxmlformats.org/drawingml/2006/main">
            <a:r>
              <a:t>所以这个项目要解决的核心问题，是把稻田、地块、指标、时间和质量状态组织成一个可信的演示场景。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我的第一阶段策略是先做一个可运行的数据闭环，而不是一开始就接入外部真实文件。</a:t>
            </a:r>
          </a:p>
          <a:p xmlns:a="http://schemas.openxmlformats.org/drawingml/2006/main">
            <a:r>
              <a:t>这样做有两个原因：第一，符合数据治理要求，不保存真实 Excel、GeoJSON 或可识别来源资料；第二，可以让平台在没有外部依赖的情况下稳定演示。</a:t>
            </a:r>
          </a:p>
          <a:p xmlns:a="http://schemas.openxmlformats.org/drawingml/2006/main">
            <a:r>
              <a:t>这个闭环的主线是场景、地块、指标、时间和质量状态，后续如果接入真实数据，也可以沿用同一套模型和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技术路线分为五步：先由程序生成模拟场景，然后按统一数据模型组织，后端通过 FastAPI 提供标准化接口，前端用 Cesium 和 ECharts 完成地图与图表联动，最后在页面上形成地块画像、指标对比和预警分析。</a:t>
            </a:r>
          </a:p>
          <a:p xmlns:a="http://schemas.openxmlformats.org/drawingml/2006/main">
            <a:r>
              <a:t>这里我刻意收窄第一阶段范围，暂缓权限、自动报告和复杂空间分析。</a:t>
            </a:r>
          </a:p>
          <a:p xmlns:a="http://schemas.openxmlformats.org/drawingml/2006/main">
            <a:r>
              <a:t>这样可以保证立项后先把最核心、最可演示、最容易验收的链路做扎实。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结合仓库现状，目前项目已经不只是停留在申请书文本。</a:t>
            </a:r>
          </a:p>
          <a:p xmlns:a="http://schemas.openxmlformats.org/drawingml/2006/main">
            <a:r>
              <a:t>现在已经有前端六个页面方向、后端接口、数据模型、文档体系和测试记录。</a:t>
            </a:r>
          </a:p>
          <a:p xmlns:a="http://schemas.openxmlformats.org/drawingml/2006/main">
            <a:r>
              <a:t>这对立项答辩很重要，因为它说明项目不是从零开始，而是已经有了清晰的工程基线，后续主要任务是继续按计划把模拟数据、页面联动和演示体验完成到可验收状态。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数据治理是这个项目的一个重点。第一版虽然使用模拟数据，但不是随便造几个数字。</a:t>
            </a:r>
          </a:p>
          <a:p xmlns:a="http://schemas.openxmlformats.org/drawingml/2006/main">
            <a:r>
              <a:t>每条观测记录都要能追溯到地块、指标、观测时间、观测批次、数据来源和质量标记。</a:t>
            </a:r>
          </a:p>
          <a:p xmlns:a="http://schemas.openxmlformats.org/drawingml/2006/main">
            <a:r>
              <a:t>同时，缺失、异常和错误数据不会被简单过滤掉，而是作为质量状态展示出来。</a:t>
            </a:r>
          </a:p>
          <a:p xmlns:a="http://schemas.openxmlformats.org/drawingml/2006/main">
            <a:r>
              <a:t>这能保证后续接入真实数据时，平台已经有比较清晰的数据规则和接口契约。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平台的演示流程会从场景驾驶舱开始，让老师先看到整个稻田场景的状态。</a:t>
            </a:r>
          </a:p>
          <a:p xmlns:a="http://schemas.openxmlformats.org/drawingml/2006/main">
            <a:r>
              <a:t>然后进入 Cesium 地图孪生，按指标和日期查看地块着色，并点击地块查看摘要和趋势。</a:t>
            </a:r>
          </a:p>
          <a:p xmlns:a="http://schemas.openxmlformats.org/drawingml/2006/main">
            <a:r>
              <a:t>接着可以进入地块画像、指标对比和预警分析，解释某个地块为什么正常或异常。</a:t>
            </a:r>
          </a:p>
          <a:p xmlns:a="http://schemas.openxmlformats.org/drawingml/2006/main">
            <a:r>
              <a:t>最后系统说明页用于集中展示文档索引，方便评审了解项目规范。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实施计划分六个阶段。前两个月主要完善需求和模型，随后完成模拟数据生成。</a:t>
            </a:r>
          </a:p>
          <a:p xmlns:a="http://schemas.openxmlformats.org/drawingml/2006/main">
            <a:r>
              <a:t>2026 年 10 月到 12 月聚焦后端核心 API，2027 年 1 月到 3 月完成前端主要页面。</a:t>
            </a:r>
          </a:p>
          <a:p xmlns:a="http://schemas.openxmlformats.org/drawingml/2006/main">
            <a:r>
              <a:t>4 月到 5 月进行联调、测试和文档整理，6 月完成验收材料。</a:t>
            </a:r>
          </a:p>
          <a:p xmlns:a="http://schemas.openxmlformats.org/drawingml/2006/main">
            <a:r>
              <a:t>最终成果不只是平台本身，还包括接口说明、系统设计、用户手册、测试记录、研究报告和演示视频。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最后总结一下，本项目的价值在于用一个可运行的数字孪生闭环，验证稻田多源数据的组织、展示和质量解释方法。</a:t>
            </a:r>
          </a:p>
          <a:p xmlns:a="http://schemas.openxmlformats.org/drawingml/2006/main">
            <a:r>
              <a:t>它既有智慧农业场景意义，也能训练 Web 开发、数据建模、地图可视化、接口设计和系统集成能力。</a:t>
            </a:r>
          </a:p>
          <a:p xmlns:a="http://schemas.openxmlformats.org/drawingml/2006/main">
            <a:r>
              <a:t>目前项目已经形成工程基线，后续计划和成果边界也比较明确。</a:t>
            </a:r>
          </a:p>
          <a:p xmlns:a="http://schemas.openxmlformats.org/drawingml/2006/main">
            <a:r>
              <a:t>我的汇报结束，恳请各位老师批评指正。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2a22b17836427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e2a40ee5a664813" /><Relationship Type="http://schemas.openxmlformats.org/officeDocument/2006/relationships/slideLayout" Target="/ppt/slideLayouts/slideLayout2.xml" Id="Rbea606dcb72c4f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a606dcb72c4f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d4461bee47429a" /><Relationship Type="http://schemas.openxmlformats.org/officeDocument/2006/relationships/notesSlide" Target="/ppt/notesSlides/notesSlide1.xml" Id="R6020c1d93c204c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09306861aa44ae" /><Relationship Type="http://schemas.openxmlformats.org/officeDocument/2006/relationships/notesSlide" Target="/ppt/notesSlides/notesSlide2.xml" Id="Rfc458a4a3bd54a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177aa509f1400b" /><Relationship Type="http://schemas.openxmlformats.org/officeDocument/2006/relationships/notesSlide" Target="/ppt/notesSlides/notesSlide3.xml" Id="R38f76e7ab48544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a11ccdb52f4781" /><Relationship Type="http://schemas.openxmlformats.org/officeDocument/2006/relationships/notesSlide" Target="/ppt/notesSlides/notesSlide4.xml" Id="Rc740a78a025640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790ecae1ac4191" /><Relationship Type="http://schemas.openxmlformats.org/officeDocument/2006/relationships/notesSlide" Target="/ppt/notesSlides/notesSlide5.xml" Id="R58ba03c71e1e45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edd9fd4b5d40a6" /><Relationship Type="http://schemas.openxmlformats.org/officeDocument/2006/relationships/notesSlide" Target="/ppt/notesSlides/notesSlide6.xml" Id="R658cbd08c8214c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72b59a1b304d03" /><Relationship Type="http://schemas.openxmlformats.org/officeDocument/2006/relationships/notesSlide" Target="/ppt/notesSlides/notesSlide7.xml" Id="R166de3e035274e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0713fac5ce44bf" /><Relationship Type="http://schemas.openxmlformats.org/officeDocument/2006/relationships/notesSlide" Target="/ppt/notesSlides/notesSlide8.xml" Id="Rf12e4bb85ceb4d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887483f51a4623" /><Relationship Type="http://schemas.openxmlformats.org/officeDocument/2006/relationships/notesSlide" Target="/ppt/notesSlides/notesSlide9.xml" Id="R632baa55d9644c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1E3921-EB07-473D-ADBC-264F4DB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A6BAD-FCF0-47EF-8A37-F2C86329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2FE49-ECCC-4BAB-A1EA-21AD1828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5276F-6EDF-49E1-9B89-FF0FE382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F4BFF-92E8-465E-8ED5-42F2A550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D3B4E-8DF2-4715-9766-41920A57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AFF28-A44F-48D0-8377-1D1661EC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47C9B-69AB-4D62-8D0D-637C6CAE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73129-8BE0-4D81-A066-534AB746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C0B26-6BEB-44C4-9384-B5EEA8EC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65640-2A62-4F71-B657-C8DDA68A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EBBC8-8994-4087-87FD-3C9BCE0D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5A74C-EA99-4331-9F67-8B209C00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CA296-B1A0-447E-9518-2C2EE0D2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9268E-00F0-48E2-A16C-F2768095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E6C95-0E0F-4BE3-A591-3AE98C64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198D8-DEB9-4EEF-9178-192B146E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E7F60-7D95-4DC9-BCE3-36FB6BB7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E394C-2741-4463-9D77-67F1CD10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14CD8-0C4F-4E9A-B1FF-4A463EBC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0E6A8-3DBD-4D88-B767-84FC8F2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85774-99A7-467F-860E-83003C0D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87EA78-5518-4D4B-89C4-F75EA60C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69365-A079-4E88-B882-4741FDE2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ED543-C01E-4085-9620-5368ADA1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D32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E7D32"/>
                </a:solidFill>
                <a:latin typeface="Aptos Mono"/>
                <a:ea typeface="Aptos Mono"/>
                <a:cs typeface="Aptos Mono"/>
              </a:rPr>
              <a:t>大学生创新创业训练计划 · 立项答辩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D14B9-02FD-4A66-9589-CC81AB90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667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9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基于数字孪生的</a:t>
            </a:r>
          </a:p>
          <a:p xmlns:a="http://schemas.openxmlformats.org/drawingml/2006/main">
            <a:pPr algn="l">
              <a:defRPr sz="39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9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智慧稻田多源数据</a:t>
            </a:r>
          </a:p>
          <a:p xmlns:a="http://schemas.openxmlformats.org/drawingml/2006/main">
            <a:pPr algn="l">
              <a:defRPr sz="39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9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可视化与分析平台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9B759E-E2D9-4069-9F7F-93168D89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61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5D6B61"/>
                </a:solidFill>
                <a:latin typeface="Aptos Mono"/>
                <a:ea typeface="Aptos Mono"/>
                <a:cs typeface="Aptos Mono"/>
              </a:rPr>
              <a:t>RiceField Insight 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BECC82-EA1D-4287-B769-DE9BCB48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28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A34150-6E8D-46D3-A22C-9FB576CF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答辩人：张焱哲</a:t>
            </a:r>
          </a:p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长春工业大学 · 应用技术学院 · 计算机科学与技术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AC09D-1DDA-4E85-A554-B98BF010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项目周期：2026.06 - 2027.06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F87633-3D9A-4BDA-BF27-470D73CC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239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F77C6A-6F0B-42CD-96B8-D905478E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9540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530E55-6005-4121-9A4D-9D2921AE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669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示例地块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CF2B3D-AD85-4089-B81A-8E7AFC69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程序生成边界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A73223-84B2-428D-A736-337E09FC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239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7D35B6-2562-4F79-8DF9-39036DA8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9540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70B7A9-6FFF-4772-87FC-D71EFE6F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669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演示指标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C04863-3FBB-4DA3-BC28-6B583ABD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作物与土壤指标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FF3E12-4EB9-413C-B416-1C5ED212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41C"/>
          </a:solidFill>
          <a:ln xmlns:a="http://schemas.openxmlformats.org/drawingml/2006/main" w="0">
            <a:solidFill>
              <a:srgbClr val="D8941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30CB48-B8E8-4869-92B9-79E2D2BA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9090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rPr>
              <a:t>45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BA3A17-0B56-48AE-AD2A-D5C3C144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观测周期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DB6A2F-C4D9-4001-9A5F-A55463D8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291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天时序数据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10051B-6F77-4FC6-A65E-3D3556FA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2"/>
          </a:solidFill>
          <a:ln xmlns:a="http://schemas.openxmlformats.org/drawingml/2006/main" w="0">
            <a:solidFill>
              <a:srgbClr val="C43D3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74EE9-6923-46F4-AEBC-6FBBCC2D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8E4B23-2AD3-4352-B821-4B50B17E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质量记录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B9DF43-48CF-4F5A-A2EA-E3333296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缺失 / 异常 / 错误</a:t>
            </a:r>
          </a:p>
        </p:txBody>
      </p:sp>
    </p:spTree>
    <p:extLst>
      <p:ext uri="{BB962C8B-B14F-4D97-AF65-F5344CB8AC3E}">
        <p14:creationId xmlns:p14="http://schemas.microsoft.com/office/powerpoint/2010/main" val="15208716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9C9C39-B194-4B3C-90BA-AA2BDE0F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E0ED1-C684-4C7C-958A-AC42C9F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90B68-6091-4192-84DF-718D0870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16CD1-4C99-483C-9A8E-51C0D146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C5803-82C6-4CD3-A3D5-4FC73937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7A79C-D9FD-496A-BB6E-BF6CB6E6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F3C26-C4E8-479B-BAE3-CA4044B3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484D7-30BB-4A89-861D-6D021FD1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8AE9F-3C83-4E86-90EF-1977EA92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E980F-CAA9-4462-AB42-D9D68DC0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CEC46-DCB7-4AAA-B0AB-7DF36908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D1FA3-F9E4-499A-9CF1-E8FF7F3D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A62FB-2A14-4229-88A9-064BE89B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B490A-48C8-492C-A9B2-73BC08B4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A536D-4B56-4EEF-8432-C444AD6B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0BCDD-A186-464C-840A-B0FF710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AA038-1975-4050-90CD-72224D61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A6328-C7B2-4B85-A0B3-2452C07F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3F61B-FE4E-4AE0-B57D-2A32B996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52AFA-FCE1-46E3-8FB9-B58C0D2B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75F48-EC81-4241-8D1E-6E414918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55291-9EC3-4B2E-B172-A723CB5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E9AB1-1727-4281-9F26-6CE152CC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AB495-2F4E-42D8-95A4-B9B1721F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B1E684-4CD8-43F7-A08F-4BA3CA41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8A472B-C06A-4A39-9370-25F58EAC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3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E7D32"/>
                </a:solidFill>
                <a:latin typeface="Aptos Mono"/>
                <a:ea typeface="Aptos Mono"/>
                <a:cs typeface="Aptos Mono"/>
              </a:rPr>
              <a:t>WHY THIS TOPIC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6693E-E9E6-4BAD-9118-2479A2A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稻田数据的难点，不在“有没有数据”，而在能不能被组织、解释和复用。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4DDC5-CAB5-468D-AD55-DB091D2C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申请书中的问题可以归纳为三个断点：地块空间状态难直观感知，指标时序变化难比较，数据质量问题难追踪。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2042E4-CF3F-4D2C-97ED-188F3C09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4A5D33-F5CD-47A1-B85E-0F63CBC8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地块状态不直观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972C62-50C3-4921-BEE9-C2CA4BD5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72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零散表格很难看出哪个地块、哪个区域表现异常。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5F165A-5301-4F3A-97FE-23DB9B81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1F7765-3FB1-4576-A3EF-CA4C5F91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指标趋势不连续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2571DC-B9F1-4AF6-86FC-41303E5B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472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作物长势、叶绿素、氮磷钾等指标需要按时间比较。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E42658-4869-4C98-9FF2-4064BCA3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D32"/>
          </a:solidFill>
          <a:ln xmlns:a="http://schemas.openxmlformats.org/drawingml/2006/main" w="0">
            <a:solidFill>
              <a:srgbClr val="C43D3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022CBB-1B31-468C-BCFC-3679A213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质量问题不透明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D3B371-D5D9-4806-AE81-08616754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472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缺失值、异常值和错误数据不应被隐藏，而应被结构化记录。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606E8A-BA63-499B-A8DA-F6330FFA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762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9C4CC3-B135-41D9-97C2-E4689BBC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传统展示方式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AB1B98-B2D6-4FB5-B57A-93753918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766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1209AA-3B1F-4C5B-8030-9B562317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1428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表格</a:t>
            </a:r>
          </a:p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单图表</a:t>
            </a:r>
          </a:p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临时文件</a:t>
            </a:r>
          </a:p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人工解释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2AEA5A-83B3-4EEB-B5A7-05CFC719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38DCF9-4929-41A1-A0E0-4B0F6D78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2E7D32"/>
                </a:solidFill>
                <a:latin typeface="Microsoft YaHei UI"/>
                <a:ea typeface="Microsoft YaHei UI"/>
                <a:cs typeface="Microsoft YaHei UI"/>
              </a:rPr>
              <a:t>数字孪生分析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D25DF5-DE8D-4561-B86C-A2859502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86200"/>
            <a:ext cx="1428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场景</a:t>
            </a:r>
          </a:p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地块</a:t>
            </a:r>
          </a:p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指标</a:t>
            </a:r>
          </a:p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时间</a:t>
            </a:r>
          </a:p>
          <a:p xmlns:a="http://schemas.openxmlformats.org/drawingml/2006/main">
            <a:pPr algn="l">
              <a:def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质量状态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B288A7-F765-41C4-95F1-3EE5136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E7B730-2628-4743-8EA8-0EE4F11D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rPr>
              <a:t>RICEFIELD INSIGHT PLATFORM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30133D-23D5-4A87-A7DD-5600BF27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221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45133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980B97-2142-4919-BC4F-CB9563B4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317B9-F58D-4776-A184-FF03AB7A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2F43F-C42C-48A9-B71B-935FBC43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2973C-0250-44E0-B758-38EE648B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E8CA8-901E-41C4-8BBA-57D1ED81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4A236-753D-4FA3-A47B-9C23EBA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FBFA4-6CAD-4DFC-B94B-E0D14E87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27E8C-9F6D-43A8-9413-DC2F1E6E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2F389-9F37-4912-A00C-EF02595F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C349B-7D60-43A4-A67F-6BD2D7C1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36794-F702-49DA-88D2-9DD588AD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83BE1-1938-4F73-BE38-FD3DCAD1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89678-D89F-4917-90EC-F1788211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7EB70-F61A-404E-A524-C4A65B65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ACA5C-57EE-4693-A3A1-35F3C80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1564D-DC4B-4197-93A7-9BEF6875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0753E-6285-41F5-AE56-5931995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5DB39-CAEB-4D53-A995-40E66756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C8EC2-C127-4AE0-8AB9-FAFF8FB9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4DC5E-6140-4733-A47E-BBAAD15D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5D1C56-19C0-4D97-9649-39BFFD6D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87D07-DF86-4D56-B2DC-418875DB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D1703-F5BA-4F69-A068-68B47BB2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A10ED-F55A-45B2-BC47-CC34E3D5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BD9BC3-0E36-4BAC-8489-78B7F2B9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E0F7F-C0F1-49E0-8B5C-14457E9B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AA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5AA8"/>
                </a:solidFill>
                <a:latin typeface="Aptos Mono"/>
                <a:ea typeface="Aptos Mono"/>
                <a:cs typeface="Aptos Mono"/>
              </a:rPr>
              <a:t>CORE IDEA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9472B9-B1EC-40C4-8169-E12340D4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191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第一阶段先建立“可运行的数据闭环”，不把真实文件导入作为主线。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608A2-881C-45A7-9977-81BB3AB5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按照项目边界，MVP 使用程序生成的默认稻田场景，避免真实 Excel、GeoJSON 或客户材料进入仓库，同时保留后续扩展到 PostGIS 和真实数据的接口契约。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CA53C-8DE6-46D6-9F71-D1676D59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B811D5-7FE3-4F4A-BA2F-0AE589EC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3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E7D32"/>
                </a:solidFill>
                <a:latin typeface="Microsoft YaHei UI"/>
                <a:ea typeface="Microsoft YaHei UI"/>
                <a:cs typeface="Microsoft YaHei UI"/>
              </a:rPr>
              <a:t>场景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497DB7-5DBB-408A-AC04-46C16EA4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demo-ricefield-2025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880FE-D6F7-4B90-BBE2-A6AA8FAB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909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B23CB6-2685-48C6-8B97-90CB7CF2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A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50366C-8CBD-4BB9-A873-E91DC460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814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7A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F7A72"/>
                </a:solidFill>
                <a:latin typeface="Microsoft YaHei UI"/>
                <a:ea typeface="Microsoft YaHei UI"/>
                <a:cs typeface="Microsoft YaHei UI"/>
              </a:rPr>
              <a:t>地块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4098D0-01E0-4C64-9A59-B526019F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8 个示例边界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3F5996-E447-4402-8746-853BAE24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909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D0532F-2C2F-4C17-A883-5AA254F4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7185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5AA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63B128-51BC-4DC6-B971-031BD1E4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814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5A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1E5AA8"/>
                </a:solidFill>
                <a:latin typeface="Microsoft YaHei UI"/>
                <a:ea typeface="Microsoft YaHei UI"/>
                <a:cs typeface="Microsoft YaHei UI"/>
              </a:rPr>
              <a:t>指标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8D7C3E-CA11-47A2-BBFE-E288457D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11 类字典编码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009EB6-9FDB-407D-A749-381221EF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909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8F329D-10AF-4D95-83E1-B92C4B2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FE3D1B-DD4E-4DF4-A0A7-CF53140C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814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8941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D8941C"/>
                </a:solidFill>
                <a:latin typeface="Microsoft YaHei UI"/>
                <a:ea typeface="Microsoft YaHei UI"/>
                <a:cs typeface="Microsoft YaHei UI"/>
              </a:rPr>
              <a:t>时间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D3FC2D-B347-4A36-94A4-B81A94AC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45 天观测序列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81B8F2-BE51-464B-868C-4A8D9666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9097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E339D5-9302-4605-8253-17397F70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50"/>
            <a:ext cx="16192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044A85-DBD7-4BCA-AEBA-3E55F886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1257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43D3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C43D32"/>
                </a:solidFill>
                <a:latin typeface="Microsoft YaHei UI"/>
                <a:ea typeface="Microsoft YaHei UI"/>
                <a:cs typeface="Microsoft YaHei UI"/>
              </a:rPr>
              <a:t>质量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AB0131-0CA6-4D19-95C2-AFF2E25F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预警与追溯记录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9C6D28-789D-4D11-8C99-9F98E2BD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863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不是“演示数据临时拼起来”，而是从第一版就按数据治理规则沉淀模型、接口和页面。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F15F4A-46C6-4636-9FA9-62987A06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9E2C57-BF52-452B-8D0A-90FCB90C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rPr>
              <a:t>RICEFIELD INSIGHT PLATFORM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816C81-5DE9-4BF2-89FF-73D71B41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221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86555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D95821-EE69-43DB-8290-977E58A7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DB15B-1F7B-41F5-BDBC-81718FD4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1E722-3C0D-4393-9FC0-56A20692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B2B11-E0ED-468E-AAB8-444DC508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35838-4644-48DA-B8A0-A389BBBD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A672B-0513-48EE-9388-5D8F5340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D6D6A-C04B-4041-AD48-2C1B5D75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4B16E-A605-4A7F-BB48-8575BC0D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CACF5-B269-4A00-97C7-F77A10C5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C77C6-B3E9-41B9-AB45-3BCC9710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122DF-4BF6-4F88-AD5F-BAD85132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944F5-EF9A-4767-B9D5-94679308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7D928-C03D-4CF5-8928-50D97F46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06976-5106-4B89-829D-F791F2EF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DAB45-BB5C-444F-BEDD-669B134F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3DDAB-768C-4CCD-A00B-77C94DE7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A4657-8236-49BD-B51A-230186C6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F6EAD-5D55-4A14-BD3E-6549E50F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F779D-0817-4250-B550-BC033944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0BDF4-1701-4B00-84B6-9438E1AF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64C21-78E2-49E3-ACD9-91A14886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896BC-2262-478B-8FBD-476038A1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13F15-F499-4085-AAEA-E69B3A1A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05CE8-EB5D-4AB3-9134-4FF2C34F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9744F2-EA16-4E7C-899C-CE8D23FC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E99AD-80DF-40C7-8BF0-D8B22BEC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3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E7D32"/>
                </a:solidFill>
                <a:latin typeface="Aptos Mono"/>
                <a:ea typeface="Aptos Mono"/>
                <a:cs typeface="Aptos Mono"/>
              </a:rPr>
              <a:t>TECH ROUTE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11E7E-9C3B-4D84-91B4-DA2F08BB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6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技术路线围绕一个闭环：生成场景、建模、接口服务、地图图表联动。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D1285-6C97-442E-BE9A-108F695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前端使用 Vue 3、TypeScript、Ant Design Vue、CesiumJS、ECharts；后端使用 FastAPI、Pydantic、SQLAlchemy、Alembic、Pytest。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F0DD1-3047-4028-9D30-999E1331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FDB468-7A80-4703-89B1-65517EF9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E7D3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7C95A4-F8CF-42F4-A693-C4DDE25E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模拟场景生成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24EA5-31DC-41A7-B6EE-2D4F2AC5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地块边界、指标字典、观测序列、质量记录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E8F611-7AA7-4A29-9B01-8A7DCEBD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814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94D820-93C5-453B-A2EA-2EA04109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6230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1E5AA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D46928-00CB-4A8F-98FD-162D04C2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52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5AA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E5AA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33B739-9B96-4DB9-B2D5-B16B7F5E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数据模型组织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B5CBBE-A36A-4AEB-A512-699393ED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719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统一为场景、地块、指标、批次和质量状态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827E39-62DA-4567-916E-AE694CA1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814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542BBE-0F12-434E-9646-CE707D46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6230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A7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98C76F-31A9-44DA-A33F-E48D3E0A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52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72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7A7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4F6496-432E-4F40-89DF-6C4848F0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FastAPI 接口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EA4650-B07A-4C73-9DDE-6F45EE70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719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场景、地图图层、地块摘要、趋势和预警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65FC1F-CD01-48C4-8F7B-FE5975B7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814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DFC27C-D5A3-4165-88BF-73757A92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B"/>
          </a:solidFill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D97007-EFC0-4943-B16A-A2671E16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41C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8941C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69E2FA-9CAC-49C9-89C7-A61A3685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Web 可视化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7E7296-B0A8-44C0-AFDA-D73BE655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Cesium 地图着色 + ECharts 趋势对比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623433-60BE-4237-98D4-777AFD9D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8145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97CA9F-B70F-4D6C-B673-E90BE6C0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6230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4E1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3525BD-9CBF-4935-A990-22C4DDBD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52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3D32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C43D3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742E79-9174-4BC6-9CBA-AAF3F64D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147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分析说明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C2E813-BDE2-4AFD-8F22-0AD85EB5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地块画像、指标对比、预警分析和系统文档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85C32E-C9BF-4D0A-968D-7A9DC50B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第一版暂缓权限系统、自动报告、多项目管理和复杂空间分析，优先完成可演示的核心链路。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9A3BB5-3691-4FDD-882C-66B0D1C9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7FEBA6-DE31-40BC-A450-6C47AAEA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rPr>
              <a:t>RICEFIELD INSIGHT PLATFORM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79CB37-0FDA-47E5-9414-B3A13E74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221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00937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D2DA48-19A0-452A-A7DD-8449DA4D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A2080-9465-454E-82ED-F74A9BB3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C3009-4F68-48AA-9994-456E1613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06F2B-DA13-4E1F-B8CB-E024D213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55CB3-2D34-4C82-AE23-5065C194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1255E-BC14-4192-9CD7-E2211DB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E5125-EB1A-49F7-8557-E624CE7B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E6CD6-C034-4D77-AD78-1566DCA0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4CF78-8749-4739-9AE1-459BF822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87EC6-2405-4CD8-9200-0367045F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7D7FE-26F8-469A-824F-7F188CB0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33FAA-3E74-4F0E-842C-703D50A3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49DEC-0050-409D-B23F-A705D392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B446F-31A4-4774-8190-6D645BC8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FE8DC-7191-4FFC-BB1F-EC7C34A2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786C9-24FB-433B-AF37-FC22D693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D666B-7B8A-4753-BDC0-ED9FFD1F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40392-1B21-455A-856C-3248107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D0AB5-0092-487A-9A4C-0AD3E57B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D0AC5-0FF8-4ACB-930F-4C70E04E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D660A-394C-4B97-B097-64CE49FE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1251C-A341-4CD8-B50F-763D7F44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956D5-F033-4876-9B8C-BF7B2E40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B1E03A-1FF7-498E-8EC1-7E5D26A2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8B0CF-3781-4BAC-893F-07A2E9DE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2"/>
          </a:solidFill>
          <a:ln xmlns:a="http://schemas.openxmlformats.org/drawingml/2006/main" w="0">
            <a:solidFill>
              <a:srgbClr val="1F7A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2EB0C8-5576-4361-A338-77D362A1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7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F7A72"/>
                </a:solidFill>
                <a:latin typeface="Aptos Mono"/>
                <a:ea typeface="Aptos Mono"/>
                <a:cs typeface="Aptos Mono"/>
              </a:rPr>
              <a:t>CURRENT 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5E3FD-69FF-46F9-82AF-A36B75F3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项目现状已经从“方案规划”推进到“可开发、可测试的工程基线”。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C8916-EFF8-4DDA-8CC8-55B2253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仓库当前包含前后端源码、接口文档、数据模型文档、设计规范、用户手册、测试和已有网页答辩材料。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6AF68A-9784-40A4-AB1C-0CAB048C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65ED8B-DE34-498F-B681-DF81B6DA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C8F57B-08B3-4A6D-92C0-7644324B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前端页面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E05DB2-4C44-4413-AA96-16EBA469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驾驶舱、地图、画像、对比、预警、说明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B636D-93B9-414C-A793-A920747B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289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9EE233-8E4C-4F07-B54A-22BA1E7F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rPr>
              <a:t>10+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C84500-A6F6-407A-93A1-B77D67B4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核心接口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AD9993-B528-4608-BD04-203E9CD3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场景、指标、地块、图层、趋势、预警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D7110F-7AB6-4F95-B4EA-8A5EBC8B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2"/>
          </a:solidFill>
          <a:ln xmlns:a="http://schemas.openxmlformats.org/drawingml/2006/main" w="0">
            <a:solidFill>
              <a:srgbClr val="1F7A7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6054B7-4B36-4CA5-BA56-3954CDCD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2118"/>
                </a:solidFill>
                <a:latin typeface="Aptos Display"/>
                <a:ea typeface="Aptos Display"/>
                <a:cs typeface="Aptos Display"/>
              </a:rPr>
              <a:t>已通过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B68702-1D25-4C9C-A300-2557D9A6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测试记录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27C5C3-3AE2-46F1-B357-3F13CB97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后端测试、前端服务测试与构建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15F017-7559-48B6-BFD6-53789CC1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352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22CF82-3ADD-4451-A021-5E59BDF6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已完成的工程准备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21B133-70FB-4A28-918A-C2C28BE3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• README 与项目计划同步为新版定位</a:t>
            </a:r>
          </a:p>
          <a:p xmlns:a="http://schemas.openxmlformats.org/drawingml/2006/main">
            <a:pPr algn="l">
              <a:def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• API 文档移除导入型接口，转为数字孪生查询</a:t>
            </a:r>
          </a:p>
          <a:p xmlns:a="http://schemas.openxmlformats.org/drawingml/2006/main">
            <a:pPr algn="l">
              <a:def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• 数据模型迁移为 ObservationBatch / DataQualityIssue</a:t>
            </a:r>
          </a:p>
          <a:p xmlns:a="http://schemas.openxmlformats.org/drawingml/2006/main">
            <a:pPr algn="l">
              <a:def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• 前端导航形成六页闭环</a:t>
            </a:r>
          </a:p>
          <a:p xmlns:a="http://schemas.openxmlformats.org/drawingml/2006/main">
            <a:pPr algn="l">
              <a:def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• CHANGELOG 记录 2026-05-17 验证结果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911362-EA27-4D8B-AF69-76514D5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532890-94AC-43F5-9120-629B431C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rPr>
              <a:t>RICEFIELD INSIGHT PLATFORM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837154-A279-4AC5-BE18-6943E89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221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91330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B0C266-6B96-494E-9627-E4460452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3E016-FDDC-4F3F-BC70-A7195038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A2A67-8B5A-44DE-82B4-8F85CFDC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70E90-808C-4FA3-8890-A120C9EE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9189F-DB19-49C0-BF7E-D6401651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80387-1225-4965-A7F7-4D82029D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89BDD-639B-4A5C-9003-C66D54BD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8ABB5-3F65-4668-8CF9-B0C57E9B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4DEE9-D7A4-4F50-9090-2DB14C4A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12C60-AED9-45D4-95CA-822A75FD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E6E87-CB59-41E1-B79C-3F2975B6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2E370-0D03-4E83-B6C5-0B23D34B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05391-8D7A-41B5-9635-448F8104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94991-0869-4B77-B0DF-4CEC4B38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38C80-7A13-4D2A-B771-4669E364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DFBBA-DB88-45D8-894B-DA272B56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3CD88F-18F5-4A53-B719-0AAE7D7D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0FFA9-7540-4E04-A91F-0BA1FFFD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B394A-77EE-4B42-BB7E-F898D7E8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A6922-DDB6-46D7-8532-7E6AD40F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E1A8F-5AF6-4078-89BA-8212243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45F36-8F8D-45AE-9ED2-939811D0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16E4F-185E-400B-B690-E64D9B22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E92FA-4501-4058-9D33-1C52D70D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C3739-694E-47D1-98FB-3CFD30EE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41C"/>
          </a:solidFill>
          <a:ln xmlns:a="http://schemas.openxmlformats.org/drawingml/2006/main" w="0">
            <a:solidFill>
              <a:srgbClr val="D894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D289A8-104D-4363-8656-48FBBFB1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41C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8941C"/>
                </a:solidFill>
                <a:latin typeface="Aptos Mono"/>
                <a:ea typeface="Aptos Mono"/>
                <a:cs typeface="Aptos Mono"/>
              </a:rPr>
              <a:t>DATA 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875EEE-C26B-4956-9DC7-1436DC79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14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7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模拟数据不是降低要求，而是让第一版从源头可复现、可追溯、可展示质量问题。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15E67-E249-4D7A-A290-DAE02671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每条观测记录保留地块、指标、数值、时间、批次、来源和质量标记；每个观测批次生成质量状态或质量问题记录。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278EC4-AD77-4CEC-9B8B-5FDF295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4286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2D0F20-0AE0-410B-B40D-CB9D9CF0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程序生成示例地块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6802A0-7584-41B5-A067-4B7B9138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72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CD2702-01B6-45F9-B899-F5C40F54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576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P01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728225-B70F-466D-B880-1996F75F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33800"/>
            <a:ext cx="72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1E5A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658769-BDF3-4D87-8CA6-1D06246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576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P02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B4196B-2978-44B7-B1F5-1A91C733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72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B"/>
          </a:solidFill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E2AA44-BC93-4B6A-A01D-DAA4EFE3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576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P03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DF54BB-B5E5-4E62-A489-5F17FEE4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72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4E1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231E7A-EBAE-4042-9083-585F69E7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5762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P04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4837F0-989A-4B67-A05C-625374A9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72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14D9EF-41E8-4E3B-B108-32A3EDF8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P05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F4DFF6-B179-48D1-AC84-F8F4CEE5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24350"/>
            <a:ext cx="72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B"/>
          </a:solidFill>
          <a:ln xmlns:a="http://schemas.openxmlformats.org/drawingml/2006/main" w="9525">
            <a:solidFill>
              <a:srgbClr val="1E5AA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2D0FD0-85B1-4C56-B79F-5CB0CA67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481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P06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4EDC83-BDA5-4D4A-B057-7581D375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24350"/>
            <a:ext cx="72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8"/>
          </a:solidFill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5FCC2C-7D0C-4133-85A8-74284058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481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P07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499AE8-E62F-4A7E-B387-3BDA240F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24350"/>
            <a:ext cx="723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B19969-17D5-486C-8D4E-6F2CEC4C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481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P08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F6C1EF-994F-47BC-A641-483C9710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色块表示指标状态：正常、偏高、偏低或需复核。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CB6D58-BC8C-4D16-9A48-AC483956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29CD51-A18A-4DD1-AA8B-CEE3A3DF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3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E7D32"/>
                </a:solidFill>
                <a:latin typeface="Microsoft YaHei UI"/>
                <a:ea typeface="Microsoft YaHei UI"/>
                <a:cs typeface="Microsoft YaHei UI"/>
              </a:rPr>
              <a:t>地块编号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F42DC8-ADEE-46FA-8F6A-257FDF55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plot_code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3C1E73-917C-4437-8D58-2E2AFB98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EF0D7D-4F8A-4686-97B5-D93DD719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5A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E5AA8"/>
                </a:solidFill>
                <a:latin typeface="Microsoft YaHei UI"/>
                <a:ea typeface="Microsoft YaHei UI"/>
                <a:cs typeface="Microsoft YaHei UI"/>
              </a:rPr>
              <a:t>指标编码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824AAD-312A-40C3-9F71-55509E37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623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metric_code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C24F01-D51E-433D-85D5-E2B3833B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1EA57A-5775-43D0-8B49-AB3B6A25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941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D8941C"/>
                </a:solidFill>
                <a:latin typeface="Microsoft YaHei UI"/>
                <a:ea typeface="Microsoft YaHei UI"/>
                <a:cs typeface="Microsoft YaHei UI"/>
              </a:rPr>
              <a:t>观测时间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8776C0-0C00-4215-A833-7CC28046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24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observed_at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7781E8-3073-4DEE-91BA-03672161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139A75-0AAD-4B4A-946D-37781374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F7A72"/>
                </a:solidFill>
                <a:latin typeface="Microsoft YaHei UI"/>
                <a:ea typeface="Microsoft YaHei UI"/>
                <a:cs typeface="Microsoft YaHei UI"/>
              </a:rPr>
              <a:t>观测批次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5C6DED-5B87-42A6-869A-D0B2BDA4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batch_id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EF9E2C-19F3-4817-8616-2A4CAD37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434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BD3213-42B3-4597-8E6A-FA22ACD5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数据来源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8D38FD-8C67-4466-B321-E1C628E3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data_source_id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3DC4C3-2B65-44FB-AA6B-47AD1A5F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054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ADB546-11E4-4FC2-B0A8-453A5F14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3D3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C43D32"/>
                </a:solidFill>
                <a:latin typeface="Microsoft YaHei UI"/>
                <a:ea typeface="Microsoft YaHei UI"/>
                <a:cs typeface="Microsoft YaHei UI"/>
              </a:rPr>
              <a:t>质量标记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69E17C-65A6-45A8-84D7-8FFC884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22118"/>
                </a:solidFill>
                <a:latin typeface="Aptos Mono"/>
                <a:ea typeface="Aptos Mono"/>
                <a:cs typeface="Aptos Mono"/>
              </a:rPr>
              <a:t>quality_flag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BD4D4C-AFD6-4DC2-89AC-A354FB76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47EEA26-87DC-488B-ABCF-EAF07E43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rPr>
              <a:t>RICEFIELD INSIGHT PLATFORM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DC5AF4-56C2-4D79-865D-3FF82D04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221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05212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F38DA6-5000-4B60-A2F3-B3168ECB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77D85-B80D-4301-A488-0D971C6B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0E74A-64E7-46A4-80B9-ACCECFF6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30CC3-8A31-4B0E-B985-4145CC41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5E2E6-7BF7-4BCC-B0DA-78ACE4C3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F7445-8ABC-4F79-B08A-AC89ADC0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6EE53-2F58-42F2-AF34-BFA0D7D2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20D72-FC64-42DF-AE4F-03F8E03E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EDEA5-3F4E-46BA-ACFD-0C2A1C08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EDC34-7220-4F61-BBB0-224923AD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FF693-0987-4A64-9D48-679A2499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974CE-B199-4F02-B9F6-AD124E52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B8E7B-4F0E-4869-87C1-87A5738E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DF1CC-FD4A-447D-B138-6A29A319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CDA0A-8826-4A18-84E9-B2EA72D8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941B2-CF58-4F30-8BC6-0308CC69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7530B-8B90-4B1F-AAC7-8F3EF1DE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E913A-71C0-45C1-9461-998236D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83E24-0DCB-402E-8017-03D84FC1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E6745-8B45-4066-8544-24F018B9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3C47D-F489-4E4B-874F-5940842F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5FB34-2370-4163-B1E1-06403B7D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BFA8F-1049-4570-B30B-3E0691E6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65E4-6602-41CC-A088-AB77C986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6D94F-434F-4C37-8134-9C981E54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4FE8D2-2201-48C9-9A4D-459E2942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3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2E7D32"/>
                </a:solidFill>
                <a:latin typeface="Aptos Mono"/>
                <a:ea typeface="Aptos Mono"/>
                <a:cs typeface="Aptos Mono"/>
              </a:rPr>
              <a:t>USER 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6DF4F9-DDC4-4635-809B-13321AA1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答辩演示会按“先看全局，再定位地块，再解释趋势和预警”的流程展开。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1DBC17-3BE2-4060-9BD8-7A39639E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这套页面结构不是营销页面，而是面向科研展示和平台维护的分析工作台。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232BE-AAE8-4D83-8115-298E5419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71696F-46DC-4B98-ACF9-25A031C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D3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E7D32"/>
                </a:solidFill>
                <a:latin typeface="Microsoft YaHei UI"/>
                <a:ea typeface="Microsoft YaHei UI"/>
                <a:cs typeface="Microsoft YaHei UI"/>
              </a:rPr>
              <a:t>场景驾驶舱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4EF27-8368-4B6E-BF9D-CD7A9616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健康度、地块数、观测天数、预警数量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A2DDFD-8275-464C-B57C-400BA22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480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14CB84-5D8D-4118-9D50-B1158707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5A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6A66FE-B1E4-429E-B21A-549083F8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5A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E5AA8"/>
                </a:solidFill>
                <a:latin typeface="Microsoft YaHei UI"/>
                <a:ea typeface="Microsoft YaHei UI"/>
                <a:cs typeface="Microsoft YaHei UI"/>
              </a:rPr>
              <a:t>Cesium 地图孪生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122951-9932-495B-ACA3-21F5926C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地块边界、指标着色、点击详情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A28A82-3DAE-4DF1-8135-FFADDB3D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480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26962F-6829-43C8-8405-3DC1BF8D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A7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15C5CA-2366-4B29-BC7A-ECDCEEAC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004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7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F7A72"/>
                </a:solidFill>
                <a:latin typeface="Microsoft YaHei UI"/>
                <a:ea typeface="Microsoft YaHei UI"/>
                <a:cs typeface="Microsoft YaHei UI"/>
              </a:rPr>
              <a:t>地块画像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415CD6-EF98-49B2-BC10-422A2F1D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单地块多指标快照和数据来源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B6F19A-6A7C-481B-B1C6-D397953A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6D348F-A952-40DB-9E73-7C63D27A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941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D8941C"/>
                </a:solidFill>
                <a:latin typeface="Microsoft YaHei UI"/>
                <a:ea typeface="Microsoft YaHei UI"/>
                <a:cs typeface="Microsoft YaHei UI"/>
              </a:rPr>
              <a:t>指标对比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24AA83-E13C-4C06-9FFF-1BD294AD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按指标、日期、区域比较地块状态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509D3A-CEB3-40C3-A680-2AD5D2FB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05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68AF41-73EC-48AC-849C-76C1EA62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3D3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DC7DE6-307E-4612-A3AE-02CA979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57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3D3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43D32"/>
                </a:solidFill>
                <a:latin typeface="Microsoft YaHei UI"/>
                <a:ea typeface="Microsoft YaHei UI"/>
                <a:cs typeface="Microsoft YaHei UI"/>
              </a:rPr>
              <a:t>预警分析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5272A7-CBBE-4716-B15D-F4A8E263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81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缺失、异常、错误记录定位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284591-B06A-4062-8413-C8C66A99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05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EE1090-479C-4003-99D2-BEFE43FB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862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6B6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B0161F-DAD5-4731-B670-1F2CC2ED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系统说明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A0C3BC-C01E-43C5-9E33-7552A66F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81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文档索引和数据来源说明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0E2562-DCE1-4012-AEF9-DF9FD85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86A7A0-4330-450D-9B4F-DD4C77BF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rPr>
              <a:t>RICEFIELD INSIGHT PLATFORM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6F4F40-9CE0-4DB4-B393-2BFEBA52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221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02192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EC4276-DE83-4F25-A581-5859B655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F662B-434B-4177-A0EC-B2B61E6A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DF5F9-853C-4AD6-955E-D8372BDD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CEB17-7D89-4E63-BE53-CBD335EF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06CFE-3DB3-425A-A18D-BF98B193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557F3-86A5-4C37-BF3E-0FD01BF0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47EDC-72E8-4BC1-9DF5-C48F8DF8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90EAB-8ED0-4D4D-BDE1-46D13CFE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4CD40-C736-4C84-8B2A-86383648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3CF7C-1BD6-4578-B1C1-3C7ECC3F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5B612-7C3B-40F2-A904-0D82AC07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8A571-FC77-4F45-8469-7C479616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4ECCF-1EF2-4385-A3DD-8C912A36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D58E4-D6C8-4C1C-A364-3961A9F0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284B6-D06C-401E-922D-1BB6B65B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3FA51-E4F8-4612-B75E-1187CF3C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3E3FE-E29E-4456-BCD8-404DDB80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32113-C8D2-4D09-AED4-030433D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B1398-CC42-4E41-97C0-1423C8FE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431CC-A381-4FB6-BBD1-49525DC7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6AE88-7BD7-4289-BB5A-9363C910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BC3BD-5B31-4500-A679-61FA0821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4AE70-8AE6-402D-98ED-24DB1093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A96E0-4D2A-4452-8607-E6B8FE63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4D402-7BBC-46E2-829C-1A6C2628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6D529-2F81-4709-AD82-C3A356FA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5AA8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E5AA8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8B6473-844A-496C-A0E6-178D5871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实施计划按“模型先行、接口稳定、页面闭环、材料验收”推进。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6320D2-E0EA-4527-B27B-688A5C83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项目周期为 2026 年 6 月至 2027 年 6 月，中期前完成系统总体设计、模拟场景生成、数据模型和 Web 初步开发。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B9CCF-1C4E-4343-8AAF-9388FA2B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03E012-522A-427F-9A2C-14F12BBA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35B493-18B8-44F0-847C-D63BF0EB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051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06-07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C2E713-419B-49DF-A7AC-0AFBC963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需求与模型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A961AA-7F95-4673-B1CA-B658EC52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确定数据模型、指标字典、页面结构和接口草案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642435-D3B8-451E-983F-92FA17DE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718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1C90F0-AD1F-4E8E-900C-AECAE39A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72"/>
          </a:solidFill>
          <a:ln xmlns:a="http://schemas.openxmlformats.org/drawingml/2006/main" w="0">
            <a:solidFill>
              <a:srgbClr val="1F7A7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3BA9D3-32E4-4AFF-90D9-5C7A60A1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051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08-09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F34B07-D637-4EC1-8492-AED535A5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481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模拟数据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FCFB9E-7C0F-4200-8347-D914B3B1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719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生成 8 个地块、11 个指标、45 天观测和质量记录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1CB75-4EBD-4BFF-B195-B024D3D6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718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265256-1306-4CD5-AE7E-7149D4FE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142C56-F410-4AA3-810D-422C5AB2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051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10-12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851BE9-E40D-4066-B392-E72E94F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481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后端 API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655E2F-830C-4A92-898F-1C20D183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719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完成场景、指标、地图图层、趋势和预警接口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C47545-8CDB-4657-B879-EEF6B32D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B96A92-C394-4F6C-AE48-CFDB1047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41C"/>
          </a:solidFill>
          <a:ln xmlns:a="http://schemas.openxmlformats.org/drawingml/2006/main" w="0">
            <a:solidFill>
              <a:srgbClr val="D8941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105D2E-40C3-4AE2-855D-3DFF2685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051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01-03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69A0E7-0E21-4E39-9826-811452F9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481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前端页面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1840AD-8EF4-4846-A1A4-76CA9D12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719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完成驾驶舱、地图孪生、地块画像、对比和预警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745DCC-B927-4A25-A49D-7F1249A3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8164E0-7B83-48C7-9F4D-1BC9929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D32"/>
          </a:solidFill>
          <a:ln xmlns:a="http://schemas.openxmlformats.org/drawingml/2006/main" w="0">
            <a:solidFill>
              <a:srgbClr val="C43D3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3DEA83-1637-49C3-A17F-12C1D201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3051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04-05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7B999F-E4D6-4C66-9B7B-4BEF8EEB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481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联调与文档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603116-1DDC-46D8-A977-C863C763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页面优化、测试记录、用户手册和研究报告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13E14E-52FB-44D7-BB6B-64792362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01325B-50D4-4F29-9F1D-A54015F7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B61"/>
          </a:solidFill>
          <a:ln xmlns:a="http://schemas.openxmlformats.org/drawingml/2006/main" w="0">
            <a:solidFill>
              <a:srgbClr val="5D6B6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C4DFD5-D66D-4C0C-9529-00EE237D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30517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F36028-29E9-40FD-A5FB-BC01D7EB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481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验收材料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E6207F-300D-4988-AFCB-B674F891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7195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5D6B61"/>
                </a:solidFill>
                <a:latin typeface="Microsoft YaHei UI"/>
                <a:ea typeface="Microsoft YaHei UI"/>
                <a:cs typeface="Microsoft YaHei UI"/>
              </a:rPr>
              <a:t>演示视频、结题材料和答辩 PPT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44B10F-9E42-4D8A-BBC9-0681634B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800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93187D-158D-43AD-B5C5-670B27A8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62550"/>
            <a:ext cx="7505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22118"/>
                </a:solidFill>
                <a:latin typeface="Microsoft YaHei UI"/>
                <a:ea typeface="Microsoft YaHei UI"/>
                <a:cs typeface="Microsoft YaHei UI"/>
              </a:rPr>
              <a:t>预期成果：Web 可视化平台、程序生成默认场景、源代码与接口说明、系统设计说明书、用户手册、测试记录、研究报告、演示视频和答辩材料。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8AC43A-8F91-44AA-8B32-59147630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1E5E91-F413-47C7-8039-47DF4AF1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D6B61"/>
                </a:solidFill>
                <a:latin typeface="Aptos Mono"/>
                <a:ea typeface="Aptos Mono"/>
                <a:cs typeface="Aptos Mono"/>
              </a:rPr>
              <a:t>RICEFIELD INSIGHT PLATFORM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7E4894-2F2E-4D75-BAB1-C2EC9A90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221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1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35792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21D0C0-BBE3-469F-8B86-E909B148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0">
            <a:solidFill>
              <a:srgbClr val="1020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DC686-8D4F-4424-BE9E-EB6A234B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D3CD6-1D36-48AA-8B24-9209C055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629AE-2122-4512-9E82-A3D7BE2F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050E6-C677-4F62-A6B5-149F217B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3BA15-6215-477A-88A0-C7509730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08371-8B22-428E-B5D7-DB1E0669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F7863-ED24-40A7-A2BF-FC70AB21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92883-2C5C-4771-BE46-A39A5BC0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14D45-CCC6-42F1-A1B7-EF431D7E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2CF74-698A-483B-9424-974338AB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2D450-51A1-429E-A563-E0132C1A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948A2-AE21-41CC-97EF-7FD11B78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28829-AA2F-48F0-ACF5-CFBEAC22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1D633-6E56-4BD3-A7BE-FF5D3B0C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19645-CCE0-4588-A1AD-83D23A43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E8C73-A593-4A71-A538-E2B0EE9A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E6CC4-109F-454F-855A-4EF13F7D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93BDC-BCDC-4758-99E4-3D4562A5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49BF6-9E84-4DF2-8695-CC29A7DC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57021-511F-45C9-AA14-3DE09D8C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98498-4836-46B0-A3B1-82EA9F47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F3F67E-4415-468A-94A7-14FC8F9B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C4D90-0F6D-41F1-B32D-4F06C6B4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5D8"/>
          </a:solidFill>
          <a:ln xmlns:a="http://schemas.openxmlformats.org/drawingml/2006/main" w="0">
            <a:solidFill>
              <a:srgbClr val="EBE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28202-DCB2-4BE1-B559-AD28410A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C3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8BC34A"/>
                </a:solidFill>
                <a:latin typeface="Aptos Mono"/>
                <a:ea typeface="Aptos Mono"/>
                <a:cs typeface="Aptos Mono"/>
              </a:rPr>
              <a:t>CONCLUSION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7762A-3634-4FF7-9165-6D79156A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7810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本项目的立项价值在于：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9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用一个可运行的数字孪生闭环，验证稻田多源数据的组织、展示和质量解释方法。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F3AD5-5F84-4572-AC99-41C4F519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8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DDE8D8"/>
                </a:solidFill>
                <a:latin typeface="Microsoft YaHei UI"/>
                <a:ea typeface="Microsoft YaHei UI"/>
                <a:cs typeface="Microsoft YaHei UI"/>
              </a:rPr>
              <a:t>申请经费：1000 元，用于平台开发测试、资料与答辩材料、部署测试和必要的软件服务。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F2A1D-750C-41EF-AFE2-DF9A773D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0">
            <a:solidFill>
              <a:srgbClr val="8BC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799764-4A6A-45FC-AE4E-FD4F6D5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可信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987F44-0313-4B07-91C2-C740F8B8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C34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8BC34A"/>
                </a:solidFill>
                <a:latin typeface="Microsoft YaHei UI"/>
                <a:ea typeface="Microsoft YaHei UI"/>
                <a:cs typeface="Microsoft YaHei UI"/>
              </a:rPr>
              <a:t>选题意义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F16E33-42FC-425A-84E5-04CC68FC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7C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9D7CE"/>
                </a:solidFill>
                <a:latin typeface="Microsoft YaHei UI"/>
                <a:ea typeface="Microsoft YaHei UI"/>
                <a:cs typeface="Microsoft YaHei UI"/>
              </a:rPr>
              <a:t>回应智慧农业数据表达需求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C966B3-D071-4BB2-926C-AE116D7B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7190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41C"/>
          </a:solidFill>
          <a:ln xmlns:a="http://schemas.openxmlformats.org/drawingml/2006/main" w="0">
            <a:solidFill>
              <a:srgbClr val="D8941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BAEDA2-05D3-4FE3-9C2C-DD06DE46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清晰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15265E-F33D-43A7-AF85-E2E4DD3E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767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941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D8941C"/>
                </a:solidFill>
                <a:latin typeface="Microsoft YaHei UI"/>
                <a:ea typeface="Microsoft YaHei UI"/>
                <a:cs typeface="Microsoft YaHei UI"/>
              </a:rPr>
              <a:t>实施路径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47755C-CD6B-4F66-8BC8-C909C12D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6250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7C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9D7CE"/>
                </a:solidFill>
                <a:latin typeface="Microsoft YaHei UI"/>
                <a:ea typeface="Microsoft YaHei UI"/>
                <a:cs typeface="Microsoft YaHei UI"/>
              </a:rPr>
              <a:t>模拟场景到 Web 闭环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5F3094-8DE1-4842-90C8-EEAB309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7190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solidFill>
              <a:srgbClr val="72A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41AD1F-0F47-4CF9-BDD4-B0597B62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4335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可推进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465F47-493E-4F73-8E87-B2F0C0C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767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2A7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72A7FF"/>
                </a:solidFill>
                <a:latin typeface="Microsoft YaHei UI"/>
                <a:ea typeface="Microsoft YaHei UI"/>
                <a:cs typeface="Microsoft YaHei UI"/>
              </a:rPr>
              <a:t>当前基础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401EBE-D76B-41CA-97ED-7E81BAAA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6250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7C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C9D7CE"/>
                </a:solidFill>
                <a:latin typeface="Microsoft YaHei UI"/>
                <a:ea typeface="Microsoft YaHei UI"/>
                <a:cs typeface="Microsoft YaHei UI"/>
              </a:rPr>
              <a:t>工程结构、接口和文档已建立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D8E7F6-E500-49B6-8D3C-03653DE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21"/>
          </a:solidFill>
          <a:ln xmlns:a="http://schemas.openxmlformats.org/drawingml/2006/main" w="9525">
            <a:solidFill>
              <a:srgbClr val="8BC3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90765B-1F7E-433A-9E4C-072DCF0A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恳请各位老师批评指正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D377A-19A0-4CB2-9E68-8F542F88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910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C34A"/>
          </a:solidFill>
          <a:ln xmlns:a="http://schemas.openxmlformats.org/drawingml/2006/main" w="0">
            <a:solidFill>
              <a:srgbClr val="8BC3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1D4B85-9E3A-4A16-8C31-4FC2460C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9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DE8D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DDE8D8"/>
                </a:solidFill>
                <a:latin typeface="Microsoft YaHei UI"/>
                <a:ea typeface="Microsoft YaHei UI"/>
                <a:cs typeface="Microsoft YaHei UI"/>
              </a:rPr>
              <a:t>答辩人：张焱哲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C25184-28E0-4477-B0B7-2D04BC39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446"/>
          </a:solidFill>
          <a:ln xmlns:a="http://schemas.openxmlformats.org/drawingml/2006/main" w="0">
            <a:solidFill>
              <a:srgbClr val="3A544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D2FF14-8806-4989-8F3B-AB91EA77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A79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FA79A"/>
                </a:solidFill>
                <a:latin typeface="Aptos Mono"/>
                <a:ea typeface="Aptos Mono"/>
                <a:cs typeface="Aptos Mono"/>
              </a:rPr>
              <a:t>RICEFIELD INSIGHT PLATFORM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040BF7-C7D4-487D-8B6F-75946A21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7259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2026-05-17T13:32:37.5470000Z</dcterms:created>
  <dcterms:modified xsi:type="dcterms:W3CDTF">2026-05-17T13:32:37.5470000Z</dcterms:modified>
</coreProperties>
</file>